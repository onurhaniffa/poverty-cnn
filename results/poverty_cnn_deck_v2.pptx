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2011680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74519" y="722376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34870" y="782726"/>
            <a:ext cx="80467" cy="80467"/>
          </a:xfrm>
          <a:prstGeom prst="ellipse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irobi_composites.png"/>
          <p:cNvPicPr>
            <a:picLocks noChangeAspect="1"/>
          </p:cNvPicPr>
          <p:nvPr/>
        </p:nvPicPr>
        <p:blipFill>
          <a:blip r:embed="rId3"/>
          <a:srcRect l="32723" r="32723"/>
          <a:stretch>
            <a:fillRect/>
          </a:stretch>
        </p:blipFill>
        <p:spPr>
          <a:xfrm>
            <a:off x="7635240" y="1371600"/>
            <a:ext cx="3749039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371600"/>
            <a:ext cx="3749039" cy="3749039"/>
          </a:xfrm>
          <a:prstGeom prst="rect">
            <a:avLst/>
          </a:prstGeom>
          <a:noFill/>
          <a:ln w="19050">
            <a:solidFill>
              <a:srgbClr val="22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10972800" y="914400"/>
            <a:ext cx="384048" cy="38404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11184026" y="914400"/>
            <a:ext cx="384048" cy="38404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11395252" y="914400"/>
            <a:ext cx="384048" cy="38404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11606479" y="914400"/>
            <a:ext cx="384048" cy="38404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6583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1" sz="5200">
                <a:solidFill>
                  <a:srgbClr val="226E8C"/>
                </a:solidFill>
                <a:latin typeface="Avenir Next"/>
              </a:rPr>
              <a:t>Predicting Village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1" sz="5200">
                <a:solidFill>
                  <a:srgbClr val="226E8C"/>
                </a:solidFill>
                <a:latin typeface="Avenir Next"/>
              </a:rPr>
              <a:t>Wealth from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sz="1300">
                <a:solidFill>
                  <a:srgbClr val="124A63"/>
                </a:solidFill>
                <a:latin typeface="Avenir Next"/>
              </a:rPr>
              <a:t>P R E S E N T E D   B Y</a:t>
            </a:r>
          </a:p>
        </p:txBody>
      </p:sp>
      <p:sp>
        <p:nvSpPr>
          <p:cNvPr id="14" name="Chevron 13"/>
          <p:cNvSpPr/>
          <p:nvPr/>
        </p:nvSpPr>
        <p:spPr>
          <a:xfrm>
            <a:off x="868680" y="4224527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61034" y="4224527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1053388" y="4224527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133087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Onur Haniffa  ·  231402005</a:t>
            </a:r>
          </a:p>
        </p:txBody>
      </p:sp>
      <p:sp>
        <p:nvSpPr>
          <p:cNvPr id="18" name="Chevron 17"/>
          <p:cNvSpPr/>
          <p:nvPr/>
        </p:nvSpPr>
        <p:spPr>
          <a:xfrm>
            <a:off x="868680" y="4791455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61034" y="4791455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1053388" y="4791455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70001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Advisor: Dr. Seda Nilgün Dumlu</a:t>
            </a:r>
          </a:p>
        </p:txBody>
      </p:sp>
      <p:sp>
        <p:nvSpPr>
          <p:cNvPr id="22" name="Chevron 21"/>
          <p:cNvSpPr/>
          <p:nvPr/>
        </p:nvSpPr>
        <p:spPr>
          <a:xfrm>
            <a:off x="868680" y="5358383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961034" y="5358383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1053388" y="5358383"/>
            <a:ext cx="201168" cy="201168"/>
          </a:xfrm>
          <a:prstGeom prst="chevron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266944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ML / DL Internship · Acıbadem MAAÜ · 2026</a:t>
            </a:r>
          </a:p>
        </p:txBody>
      </p:sp>
      <p:sp>
        <p:nvSpPr>
          <p:cNvPr id="26" name="Oval 25"/>
          <p:cNvSpPr/>
          <p:nvPr/>
        </p:nvSpPr>
        <p:spPr>
          <a:xfrm>
            <a:off x="2926080" y="612648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86430" y="6186830"/>
            <a:ext cx="80467" cy="80467"/>
          </a:xfrm>
          <a:prstGeom prst="ellipse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5394960"/>
            <a:ext cx="10972" cy="731520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8A9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881360" y="54864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41710" y="608990"/>
            <a:ext cx="80467" cy="80467"/>
          </a:xfrm>
          <a:prstGeom prst="ellipse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0" y="649224"/>
            <a:ext cx="2286000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858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sz="4000">
                <a:solidFill>
                  <a:srgbClr val="226E8C"/>
                </a:solidFill>
                <a:latin typeface="Avenir Next"/>
              </a:rPr>
              <a:t>Does It Work?  Yes.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447" y="1691640"/>
            <a:ext cx="1828800" cy="45720"/>
          </a:xfrm>
          <a:prstGeom prst="rect">
            <a:avLst/>
          </a:prstGeom>
          <a:solidFill>
            <a:srgbClr val="16C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sz="5800">
                <a:solidFill>
                  <a:srgbClr val="226E8C"/>
                </a:solidFill>
                <a:latin typeface="Avenir Next"/>
              </a:rPr>
              <a:t>r 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Pearson r — matches the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WILDS PovertyMap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sz="5800">
                <a:solidFill>
                  <a:srgbClr val="226E8C"/>
                </a:solidFill>
                <a:latin typeface="Avenir Next"/>
              </a:rPr>
              <a:t>0.55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832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worst-group r —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600">
                <a:solidFill>
                  <a:srgbClr val="2B3036"/>
                </a:solidFill>
                <a:latin typeface="Avenir Next"/>
              </a:rPr>
              <a:t>beats their 0.45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sz="1800">
                <a:solidFill>
                  <a:srgbClr val="124A63"/>
                </a:solidFill>
                <a:latin typeface="Avenir Next"/>
              </a:rPr>
              <a:t>Honest, on unseen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b="1" sz="1600">
                <a:solidFill>
                  <a:srgbClr val="16CEE2"/>
                </a:solidFill>
                <a:latin typeface="Avenir Next"/>
              </a:rPr>
              <a:t>•  </a:t>
            </a:r>
            <a:r>
              <a:rPr b="0" sz="1600">
                <a:solidFill>
                  <a:srgbClr val="2B3036"/>
                </a:solidFill>
                <a:latin typeface="Avenir Next"/>
              </a:rPr>
              <a:t>Leave-country-out CV — tested on countries the model never saw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b="1" sz="1600">
                <a:solidFill>
                  <a:srgbClr val="16CEE2"/>
                </a:solidFill>
                <a:latin typeface="Avenir Next"/>
              </a:rPr>
              <a:t>•  </a:t>
            </a:r>
            <a:r>
              <a:rPr b="0" sz="1600">
                <a:solidFill>
                  <a:srgbClr val="2B3036"/>
                </a:solidFill>
                <a:latin typeface="Avenir Next"/>
              </a:rPr>
              <a:t>Pooled r² 0.61 on the multi-round (36k-village) 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b="1" sz="1600">
                <a:solidFill>
                  <a:srgbClr val="16CEE2"/>
                </a:solidFill>
                <a:latin typeface="Avenir Next"/>
              </a:rPr>
              <a:t>•  </a:t>
            </a:r>
            <a:r>
              <a:rPr b="0" sz="1600">
                <a:solidFill>
                  <a:srgbClr val="2B3036"/>
                </a:solidFill>
                <a:latin typeface="Avenir Next"/>
              </a:rPr>
              <a:t>A naïve random split would have inflated this to 0.73 (+20%) — we refuse that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