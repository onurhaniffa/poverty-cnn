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78A7A"/>
                </a:solidFill>
                <a:latin typeface="Avenir Next"/>
              </a:rPr>
              <a:t>ML/DL INTERNSHIP · SPRING 2026 · ACIBADEM MAAÜ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83080"/>
            <a:ext cx="8046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4200" b="1">
                <a:solidFill>
                  <a:srgbClr val="1F3A5F"/>
                </a:solidFill>
                <a:latin typeface="Avenir Next"/>
              </a:rPr>
              <a:t>Predicting Village Wealth from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310128"/>
            <a:ext cx="2377440" cy="4572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7772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B3440"/>
                </a:solidFill>
                <a:latin typeface="Avenir Next"/>
              </a:rPr>
              <a:t>A modern replication &amp; fairness audit of Yeh et al. (2020), Nature Communications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806440"/>
            <a:ext cx="9144000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8638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Avenir Next"/>
              </a:rPr>
              <a:t>Onur Haniffa</a:t>
            </a:r>
            <a:r>
              <a:rPr sz="1400" b="0">
                <a:solidFill>
                  <a:srgbClr val="C9D6E3"/>
                </a:solidFill>
                <a:latin typeface="Avenir Next"/>
              </a:rPr>
              <a:t>       ·       Advisor: Dr. Seda Nilgün Dumlu       ·       22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The Problem &amp; the Promise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poverty-cnn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01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46504"/>
            <a:ext cx="3977639" cy="38862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977639" cy="388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1965960"/>
            <a:ext cx="310896" cy="54864"/>
          </a:xfrm>
          <a:prstGeom prst="rect">
            <a:avLst/>
          </a:prstGeom>
          <a:solidFill>
            <a:srgbClr val="E09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075688"/>
            <a:ext cx="3465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0922F"/>
                </a:solidFill>
                <a:latin typeface="Avenir Next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532888"/>
            <a:ext cx="3465575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Reliable poverty data is scarce, expensive, and infrequent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Thinnest exactly where the need is greatest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Decisions get made on stale or missing numbers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4588" y="1746504"/>
            <a:ext cx="3977639" cy="38862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40" y="1691640"/>
            <a:ext cx="3977639" cy="388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9472" y="1965960"/>
            <a:ext cx="310896" cy="54864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2075688"/>
            <a:ext cx="3465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78A7A"/>
                </a:solidFill>
                <a:latin typeface="Avenir Next"/>
              </a:rPr>
              <a:t>THE PROMISE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2532888"/>
            <a:ext cx="3465575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Satellites image everywhere on Earth, cheaply and repeatedly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Can a neural network read household wealth from imagery?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If yes: a scalable complement to ground surveys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Where This Comes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poverty-cnn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02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46504"/>
            <a:ext cx="3977639" cy="38862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977639" cy="388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1965960"/>
            <a:ext cx="310896" cy="54864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075688"/>
            <a:ext cx="3465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78A7A"/>
                </a:solidFill>
                <a:latin typeface="Avenir Next"/>
              </a:rPr>
              <a:t>THE LINEAGE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532888"/>
            <a:ext cx="3465575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Jean 2016 (Science): nightlights + transfer learning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Yeh 2020 (Nature Comms): mean r² = 0.70 across 23 countries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Aiken 2023 (IJCAI): fairness gaps — but only 10 countries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4588" y="1746504"/>
            <a:ext cx="3977639" cy="38862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40" y="1691640"/>
            <a:ext cx="3977639" cy="388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9472" y="1965960"/>
            <a:ext cx="310896" cy="54864"/>
          </a:xfrm>
          <a:prstGeom prst="rect">
            <a:avLst/>
          </a:prstGeom>
          <a:solidFill>
            <a:srgbClr val="E09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9472" y="2075688"/>
            <a:ext cx="346557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0922F"/>
                </a:solidFill>
                <a:latin typeface="Avenir Next"/>
              </a:rPr>
              <a:t>OUR FOUR CONTRIBUTIONS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2532888"/>
            <a:ext cx="3465575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Replicate Yeh in modern PyTorch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Fairness audit across ALL 23 countries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Uncertainty-aware fairness  (novel)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Temporal fairness drift  (novel)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Two Data Sources, One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poverty-cnn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03 / 11</a:t>
            </a:r>
          </a:p>
        </p:txBody>
      </p:sp>
      <p:pic>
        <p:nvPicPr>
          <p:cNvPr id="10" name="Picture 9" descr="01_big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8138160" cy="34430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8064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A848F"/>
                </a:solidFill>
                <a:latin typeface="Avenir Next"/>
              </a:rPr>
              <a:t>Each village's GPS point pulls a satellite tile (x); its survey gives a wealth value (y); the CNN learns x → 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METHOD · WEALTH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From a Survey to a Wealth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poverty-cnn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04 / 11</a:t>
            </a:r>
          </a:p>
        </p:txBody>
      </p:sp>
      <p:pic>
        <p:nvPicPr>
          <p:cNvPr id="10" name="Picture 9" descr="02_wealth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0280"/>
            <a:ext cx="8595360" cy="26447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12064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A848F"/>
                </a:solidFill>
                <a:latin typeface="Avenir Next"/>
              </a:rPr>
              <a:t>Assets, not income. Pool every household across 23 countries, run PCA, take PC1 as the wealth axis, average to the village.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A848F"/>
                </a:solidFill>
                <a:latin typeface="Avenir Next"/>
              </a:rPr>
              <a:t>PC1 explains 28.7% of total variance.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METHOD · VALIDITY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Is PC1 a Valid Wealth Index?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poverty-cnn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05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46504"/>
            <a:ext cx="3886200" cy="41148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886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1965960"/>
            <a:ext cx="310896" cy="54864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075688"/>
            <a:ext cx="3374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78A7A"/>
                </a:solidFill>
                <a:latin typeface="Avenir Next"/>
              </a:rPr>
              <a:t>WHY 28% IS PLENTY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532888"/>
            <a:ext cx="3374136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PC1 = 28.7% — but the benchmark is the 6.7% random floor, not 50%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That is 4.3× the floor: one strongly dominant factor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Binary survey data caps variance; 20–40% is the norm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Variance = compactness, not validity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Validated by the country ranking + urban/rural gap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3148" y="1746504"/>
            <a:ext cx="4069080" cy="41148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691640"/>
            <a:ext cx="40690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_pca_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11680"/>
            <a:ext cx="3611880" cy="2572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METHOD ·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Why PC1 Is Wealth, Not PC2/PC3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poverty-cnn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06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46504"/>
            <a:ext cx="3886200" cy="41148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3886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1965960"/>
            <a:ext cx="310896" cy="54864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075688"/>
            <a:ext cx="33741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78A7A"/>
                </a:solidFill>
                <a:latin typeface="Avenir Next"/>
              </a:rPr>
              <a:t>LEVEL VS CONTRAST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532888"/>
            <a:ext cx="3374136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A wealth factor makes ALL assets rise together (a 'level')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PC1 is all-positive → that IS wealth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PC2/PC3 are orthogonal contrasts (mixed signs)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PC2 = rural/traditional vs urban/modern; PC3 = big durables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Wealth is the #1 driver → it lands on PC1 by construction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3148" y="1746504"/>
            <a:ext cx="4069080" cy="41148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691640"/>
            <a:ext cx="406908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_pca_load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65960"/>
            <a:ext cx="3520440" cy="2641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METHOD · IMAGERY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From a GPS Point to a Tile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poverty-cnn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07 / 11</a:t>
            </a:r>
          </a:p>
        </p:txBody>
      </p:sp>
      <p:pic>
        <p:nvPicPr>
          <p:cNvPr id="10" name="Picture 9" descr="03_ee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3120"/>
            <a:ext cx="8595360" cy="27656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0749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7A848F"/>
                </a:solidFill>
                <a:latin typeface="Avenir Next"/>
              </a:rPr>
              <a:t>The GPS coordinate selects the patch; Earth Engine builds a cloud-free 3-year median; 8 bands stack into one 224×224 tile.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Decisions &amp; Honest Divergences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poverty-cnn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08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46504"/>
            <a:ext cx="8138160" cy="411480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813816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74066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Ordinal categoricals (floor/wall/roof, water, toilet) collapsed to a binary 'improved/finished' flag — documented divergence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Quality filter: drop households missing &gt;30% of features — only ~30 of 355,445 dropped (99.99% complete)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Special DHS codes handled (e.g. 'rooms' 96/97/98/99 → missing, not a fake 10-room house)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Nightlights: DMSP-OLS (pre-2012) vs VIIRS (2012+) — different scales, documented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One survey round per country → 13,634 clusters (Yeh pooled multiple rounds → 19,669)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What the Data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poverty-cnn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09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00784"/>
            <a:ext cx="3886200" cy="361188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45920"/>
            <a:ext cx="388620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0_cluste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3154680" cy="266881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613148" y="1700784"/>
            <a:ext cx="4069080" cy="361188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645920"/>
            <a:ext cx="406908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7_urban_ru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86000"/>
            <a:ext cx="3611880" cy="249057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44068" y="5495544"/>
            <a:ext cx="2606040" cy="86868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5440680"/>
            <a:ext cx="260604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559552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400" b="1">
                <a:solidFill>
                  <a:srgbClr val="178A7A"/>
                </a:solidFill>
                <a:latin typeface="Avenir Next"/>
              </a:rPr>
              <a:t>13,634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8932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georeferenced clusters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87268" y="5495544"/>
            <a:ext cx="2606040" cy="86868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46120" y="5440680"/>
            <a:ext cx="260604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5559552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400" b="1">
                <a:solidFill>
                  <a:srgbClr val="E0922F"/>
                </a:solidFill>
                <a:latin typeface="Avenir Next"/>
              </a:rPr>
              <a:t>28.7%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598932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PC1 variance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0468" y="5495544"/>
            <a:ext cx="2606040" cy="86868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89320" y="5440680"/>
            <a:ext cx="260604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5559552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2400" b="1">
                <a:solidFill>
                  <a:srgbClr val="178A7A"/>
                </a:solidFill>
                <a:latin typeface="Avenir Next"/>
              </a:rPr>
              <a:t>1.16σ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5989320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7A848F"/>
                </a:solidFill>
                <a:latin typeface="Avenir Next"/>
              </a:rPr>
              <a:t>urban/rural gap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178A7A"/>
                </a:solidFill>
                <a:latin typeface="Avenir Next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8412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F3A5F"/>
                </a:solidFill>
                <a:latin typeface="Avenir Next"/>
              </a:rPr>
              <a:t>Status &amp;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920240" cy="41148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00800"/>
            <a:ext cx="8092440" cy="11887"/>
          </a:xfrm>
          <a:prstGeom prst="rect">
            <a:avLst/>
          </a:prstGeom>
          <a:solidFill>
            <a:srgbClr val="E1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poverty-cnn  ·  Onur Haniffa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5566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0">
                <a:solidFill>
                  <a:srgbClr val="7A848F"/>
                </a:solidFill>
                <a:latin typeface="Avenir Next"/>
              </a:rPr>
              <a:t>10 / 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" y="1746504"/>
            <a:ext cx="2606040" cy="329184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260604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" y="1965960"/>
            <a:ext cx="310896" cy="54864"/>
          </a:xfrm>
          <a:prstGeom prst="rect">
            <a:avLst/>
          </a:prstGeom>
          <a:solidFill>
            <a:srgbClr val="17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075688"/>
            <a:ext cx="2093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78A7A"/>
                </a:solidFill>
                <a:latin typeface="Avenir Next"/>
              </a:rPr>
              <a:t>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532888"/>
            <a:ext cx="2093976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DHS → wealth index, all 23 countries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355,445 households → 13,634 villages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Full EDA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2988" y="1746504"/>
            <a:ext cx="2606040" cy="329184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91840" y="1691640"/>
            <a:ext cx="260604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47872" y="1965960"/>
            <a:ext cx="310896" cy="54864"/>
          </a:xfrm>
          <a:prstGeom prst="rect">
            <a:avLst/>
          </a:prstGeom>
          <a:solidFill>
            <a:srgbClr val="E09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2075688"/>
            <a:ext cx="2093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0922F"/>
                </a:solidFill>
                <a:latin typeface="Avenir Next"/>
              </a:rPr>
              <a:t>IN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2532888"/>
            <a:ext cx="2093976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Satellite tiles via Earth Engine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~50% extracted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Finishing in ~1–2 days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76188" y="1746504"/>
            <a:ext cx="2606040" cy="329184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40" y="1691640"/>
            <a:ext cx="260604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1965960"/>
            <a:ext cx="310896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2075688"/>
            <a:ext cx="209397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F3A5F"/>
                </a:solidFill>
                <a:latin typeface="Avenir Next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2532888"/>
            <a:ext cx="2093976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Pair tiles ↔ wealth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Train 8-channel ResNet-18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178A7A"/>
                </a:solidFill>
                <a:latin typeface="Avenir Next"/>
              </a:rPr>
              <a:t>▸   </a:t>
            </a:r>
            <a:r>
              <a:rPr sz="1500" b="0">
                <a:solidFill>
                  <a:srgbClr val="2B3440"/>
                </a:solidFill>
                <a:latin typeface="Avenir Next"/>
              </a:rPr>
              <a:t>Replication r² → fairness → extensions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" y="5221224"/>
            <a:ext cx="8138160" cy="868680"/>
          </a:xfrm>
          <a:prstGeom prst="roundRect">
            <a:avLst>
              <a:gd name="adj" fmla="val 4000"/>
            </a:avLst>
          </a:prstGeom>
          <a:solidFill>
            <a:srgbClr val="E7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2920" y="5166360"/>
            <a:ext cx="813816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285232"/>
            <a:ext cx="8138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3A5F"/>
                </a:solidFill>
                <a:latin typeface="Avenir Next"/>
              </a:rPr>
              <a:t>Target  </a:t>
            </a:r>
            <a:r>
              <a:rPr sz="1400" b="0">
                <a:solidFill>
                  <a:srgbClr val="2B3440"/>
                </a:solidFill>
                <a:latin typeface="Avenir Next"/>
              </a:rPr>
              <a:t>mean-of-folds r² ≥ 0.60   </a:t>
            </a:r>
            <a:r>
              <a:rPr sz="1400" b="1">
                <a:solidFill>
                  <a:srgbClr val="1F3A5F"/>
                </a:solidFill>
                <a:latin typeface="Avenir Next"/>
              </a:rPr>
              <a:t>·   Deadline  </a:t>
            </a:r>
            <a:r>
              <a:rPr sz="1400" b="0">
                <a:solidFill>
                  <a:srgbClr val="2B3440"/>
                </a:solidFill>
                <a:latin typeface="Avenir Next"/>
              </a:rPr>
              <a:t>30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