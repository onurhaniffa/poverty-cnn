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78A7A"/>
                </a:solidFill>
                <a:latin typeface="Avenir Next"/>
              </a:rPr>
              <a:t>ML / DL INTERNSHIP  ·  ACIBADEM MAAÜ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81381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>
                <a:solidFill>
                  <a:srgbClr val="1F3A5F"/>
                </a:solidFill>
                <a:latin typeface="Avenir Next"/>
              </a:rPr>
              <a:t>Predicting Village Wealth
from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456432"/>
            <a:ext cx="2377440" cy="4572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0">
                <a:solidFill>
                  <a:srgbClr val="2B3440"/>
                </a:solidFill>
                <a:latin typeface="Avenir Next"/>
              </a:rPr>
              <a:t>A modern replication — and fairness &amp; uncertainty audit — of Yeh et al. (2020), Nature Communications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806440"/>
            <a:ext cx="9144000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78638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Avenir Next"/>
              </a:rPr>
              <a:t>Onur Haniffa</a:t>
            </a:r>
            <a:r>
              <a:rPr sz="1400" b="0">
                <a:solidFill>
                  <a:srgbClr val="C9D6E3"/>
                </a:solidFill>
                <a:latin typeface="Avenir Next"/>
              </a:rPr>
              <a:t>        ·        Advisor: Dr. Seda Nilgün Dumlu        ·      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Why Predict Poverty from Space?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Predicting Village Wealth from Space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01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" y="1746504"/>
            <a:ext cx="3977639" cy="393192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91640"/>
            <a:ext cx="3977639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" y="1965960"/>
            <a:ext cx="310896" cy="54864"/>
          </a:xfrm>
          <a:prstGeom prst="rect">
            <a:avLst/>
          </a:prstGeom>
          <a:solidFill>
            <a:srgbClr val="E09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075688"/>
            <a:ext cx="34655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0922F"/>
                </a:solidFill>
                <a:latin typeface="Avenir Next"/>
              </a:rPr>
              <a:t>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532888"/>
            <a:ext cx="3465575" cy="2926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Reliable poverty data is scarce, expensive, and infrequent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Household surveys cost millions and run every ~5 years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Thinnest exactly where the need is greatest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4588" y="1746504"/>
            <a:ext cx="3977639" cy="393192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63440" y="1691640"/>
            <a:ext cx="3977639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9472" y="1965960"/>
            <a:ext cx="310896" cy="54864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9472" y="2075688"/>
            <a:ext cx="34655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78A7A"/>
                </a:solidFill>
                <a:latin typeface="Avenir Next"/>
              </a:rPr>
              <a:t>THE PROMISE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2532888"/>
            <a:ext cx="3465575" cy="2926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Satellites image everywhere on Earth — free and repeatedly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Can a neural network read village wealth from imagery?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If yes: a scalable complement to ground surveys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7A848F"/>
                </a:solidFill>
                <a:latin typeface="Avenir Next"/>
              </a:rPr>
              <a:t>The whole question: can a free satellite image stand in for an expensive survey?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One Model, Two Inputs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Predicting Village Wealth from Space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02 / 19</a:t>
            </a:r>
          </a:p>
        </p:txBody>
      </p:sp>
      <p:pic>
        <p:nvPicPr>
          <p:cNvPr id="10" name="Picture 9" descr="01_big_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8138160" cy="34430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71500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7A848F"/>
                </a:solidFill>
                <a:latin typeface="Avenir Next"/>
              </a:rPr>
              <a:t>A village's GPS pulls a satellite tile (x); its survey gives a wealth value (y); the network learns x → 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7A848F"/>
                </a:solidFill>
                <a:latin typeface="Avenir Next"/>
              </a:rPr>
              <a:t>This talk answers two things: where does the wealth number come from, and does it work — for whom?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DATA · GROUND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The Answer Key: DHS Surveys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Predicting Village Wealth from Space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03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" y="1746504"/>
            <a:ext cx="3977639" cy="393192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91640"/>
            <a:ext cx="3977639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" y="1965960"/>
            <a:ext cx="310896" cy="54864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075688"/>
            <a:ext cx="34655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78A7A"/>
                </a:solidFill>
                <a:latin typeface="Avenir Next"/>
              </a:rPr>
              <a:t>WHAT DHS GIVES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532888"/>
            <a:ext cx="3465575" cy="2926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Gold-standard household surveys (USAID-funded)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Unit = a cluster ≈ a village (~25 households)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A GPS coordinate for every cluster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4588" y="1746504"/>
            <a:ext cx="3977639" cy="393192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63440" y="1691640"/>
            <a:ext cx="3977639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9472" y="1965960"/>
            <a:ext cx="310896" cy="54864"/>
          </a:xfrm>
          <a:prstGeom prst="rect">
            <a:avLst/>
          </a:prstGeom>
          <a:solidFill>
            <a:srgbClr val="E09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9472" y="2075688"/>
            <a:ext cx="34655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0922F"/>
                </a:solidFill>
                <a:latin typeface="Avenir Next"/>
              </a:rPr>
              <a:t>THE DELIBERATE TWIST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2532888"/>
            <a:ext cx="3465575" cy="2926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DHS shifts each GPS point for privacy: up to 2 km (urban), 5 km (rural)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So the true village is somewhere nearby — not exactly on the point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That is WHY our tile is a wide 6.72 km box: big enough to still contain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7A848F"/>
                </a:solidFill>
                <a:latin typeface="Avenir Next"/>
              </a:rPr>
              <a:t>The survey is our ‘answer key’ — the model is trained and graded against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DATA · THE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There Is No ‘Wealth’ Column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Predicting Village Wealth from Space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04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" y="1746504"/>
            <a:ext cx="3886200" cy="402336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91640"/>
            <a:ext cx="388620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" y="1965960"/>
            <a:ext cx="310896" cy="54864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075688"/>
            <a:ext cx="3374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78A7A"/>
                </a:solidFill>
                <a:latin typeface="Avenir Next"/>
              </a:rPr>
              <a:t>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532888"/>
            <a:ext cx="3374136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DHS never asks ‘how rich are you?’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It records asset checkboxes: electricity? TV? fridge? car?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Plus finished floor / wall / roof, water, toilet, rooms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We must turn ~15 yes/no answers into ONE wealth number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3148" y="1746504"/>
            <a:ext cx="4069080" cy="402336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1691640"/>
            <a:ext cx="406908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3_asset_pre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057400"/>
            <a:ext cx="3429000" cy="25717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589788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7A848F"/>
                </a:solidFill>
                <a:latin typeface="Avenir Next"/>
              </a:rPr>
              <a:t>Asset ownership across our 355,000 households — the raw material for the wealth index.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METHOD · WEALTH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PCA: Finding the Hidden Wealth Axis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Predicting Village Wealth from Space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05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" y="1746504"/>
            <a:ext cx="3886200" cy="411480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91640"/>
            <a:ext cx="38862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" y="1965960"/>
            <a:ext cx="310896" cy="54864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075688"/>
            <a:ext cx="3374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78A7A"/>
                </a:solidFill>
                <a:latin typeface="Avenir Next"/>
              </a:rPr>
              <a:t>THE ONE RULER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532888"/>
            <a:ext cx="3374136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PCA finds the single mix of assets that best explains who owns MORE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That axis (PC1) is wealth — every asset loads positive (a ‘more-of-everything’ axis)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Average it to the village = our target 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‘Only 28%?’ — that is 4× the random floor; validity is in the loadings, not the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3148" y="1746504"/>
            <a:ext cx="4069080" cy="411480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1691640"/>
            <a:ext cx="406908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2_pca_loa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965960"/>
            <a:ext cx="3429000" cy="25729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594360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7A848F"/>
                </a:solidFill>
                <a:latin typeface="Avenir Next"/>
              </a:rPr>
              <a:t>Like a credit-score formula — discovered from the data, not hand-set.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DATA · THE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Eight Ways to See a Village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Predicting Village Wealth from Space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06 /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27632"/>
            <a:ext cx="3977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URBAN — NAIROBI, KENYA</a:t>
            </a:r>
          </a:p>
        </p:txBody>
      </p:sp>
      <p:pic>
        <p:nvPicPr>
          <p:cNvPr id="11" name="Picture 10" descr="nairobi_all_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38528"/>
            <a:ext cx="3977639" cy="2013294"/>
          </a:xfrm>
          <a:prstGeom prst="rect">
            <a:avLst/>
          </a:prstGeom>
        </p:spPr>
      </p:pic>
      <p:pic>
        <p:nvPicPr>
          <p:cNvPr id="12" name="Picture 11" descr="nairobi_composi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61550"/>
            <a:ext cx="3977639" cy="1374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63440" y="1627632"/>
            <a:ext cx="3977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E0922F"/>
                </a:solidFill>
                <a:latin typeface="Avenir Next"/>
              </a:rPr>
              <a:t>RURAL — TURKANA, KENYA</a:t>
            </a:r>
          </a:p>
        </p:txBody>
      </p:sp>
      <p:pic>
        <p:nvPicPr>
          <p:cNvPr id="14" name="Picture 13" descr="turkana_all_ba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938528"/>
            <a:ext cx="3977639" cy="2013294"/>
          </a:xfrm>
          <a:prstGeom prst="rect">
            <a:avLst/>
          </a:prstGeom>
        </p:spPr>
      </p:pic>
      <p:pic>
        <p:nvPicPr>
          <p:cNvPr id="15" name="Picture 14" descr="turkana_composit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061550"/>
            <a:ext cx="3977639" cy="13744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5870448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7A848F"/>
                </a:solidFill>
                <a:latin typeface="Avenir Next"/>
              </a:rPr>
              <a:t>8 channels = 8 ‘senses’: visible colour, infrared (vegetation &amp; rooftops), thermal (heat), night-lights (electrification). The CNN reads all 8 together and outputs one wealth number.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METHOD ·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The Model, in 20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Predicting Village Wealth from Space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07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" y="1837943"/>
            <a:ext cx="8138160" cy="274320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783080"/>
            <a:ext cx="81381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7315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A ResNet-18 — a standard, well-understood convolutional network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Two tweaks: the input is rebuilt for 8 channels (not 3), and the output is one number (not categories)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Trained from scratch on the satellite tiles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" y="4764024"/>
            <a:ext cx="8138160" cy="109728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4709160"/>
            <a:ext cx="813816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709160"/>
            <a:ext cx="81381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Avenir Next"/>
              </a:rPr>
              <a:t>The science is in the data and the honest evaluation — not the architecture.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METHOD · THE HONEST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Testing on Countries It Has Never Seen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Predicting Village Wealth from Space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08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" y="1746504"/>
            <a:ext cx="3977639" cy="393192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91640"/>
            <a:ext cx="3977639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" y="1965960"/>
            <a:ext cx="310896" cy="54864"/>
          </a:xfrm>
          <a:prstGeom prst="rect">
            <a:avLst/>
          </a:prstGeom>
          <a:solidFill>
            <a:srgbClr val="E09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075688"/>
            <a:ext cx="34655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0922F"/>
                </a:solidFill>
                <a:latin typeface="Avenir Next"/>
              </a:rPr>
              <a:t>WHY NOT A RANDOM SPLIT?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532888"/>
            <a:ext cx="3465575" cy="2926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Split villages randomly and the model can MEMORISE a country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Same country in train AND test = it cheats — a flattering but fake score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Useless for the real question: does it generalise to a NEW place?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4588" y="1746504"/>
            <a:ext cx="3977639" cy="393192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63440" y="1691640"/>
            <a:ext cx="3977639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9472" y="1965960"/>
            <a:ext cx="310896" cy="54864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9472" y="2075688"/>
            <a:ext cx="34655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78A7A"/>
                </a:solidFill>
                <a:latin typeface="Avenir Next"/>
              </a:rPr>
              <a:t>CROSS-COUNTRY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2532888"/>
            <a:ext cx="3465575" cy="2926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Train on ~18 countries, test on 5 it has NEVER seen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Rotate so every country is the test set exactly once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Every number we report is on unseen countries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7A848F"/>
                </a:solidFill>
                <a:latin typeface="Avenir Next"/>
              </a:rPr>
              <a:t>Like an exam with questions you never studied — the only fair test.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METHOD · MEASURING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How Do We Know If It’s Good?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Predicting Village Wealth from Space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09 /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2B3440"/>
                </a:solidFill>
                <a:latin typeface="Avenir Next"/>
              </a:rPr>
              <a:t>Three metrics — because they answer different questions.</a:t>
            </a:r>
          </a:p>
        </p:txBody>
      </p:sp>
      <p:pic>
        <p:nvPicPr>
          <p:cNvPr id="11" name="Picture 10" descr="metrics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8229600" cy="36693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RESULTS · REPLICATION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Does It Work?  Yes — at Benchmark Level.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Predicting Village Wealth from Space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10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" y="1837943"/>
            <a:ext cx="1920240" cy="105156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783080"/>
            <a:ext cx="19202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11095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2700" b="1">
                <a:solidFill>
                  <a:srgbClr val="178A7A"/>
                </a:solidFill>
                <a:latin typeface="Avenir Next"/>
              </a:rPr>
              <a:t>0.78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41448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7A848F"/>
                </a:solidFill>
                <a:latin typeface="Avenir Next"/>
              </a:rPr>
              <a:t>Pearson r (ours)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47188" y="1837943"/>
            <a:ext cx="1920240" cy="105156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06040" y="1783080"/>
            <a:ext cx="19202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06040" y="1911095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2700" b="1">
                <a:solidFill>
                  <a:srgbClr val="7A848F"/>
                </a:solidFill>
                <a:latin typeface="Avenir Next"/>
              </a:rPr>
              <a:t>0.78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441448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7A848F"/>
                </a:solidFill>
                <a:latin typeface="Avenir Next"/>
              </a:rPr>
              <a:t>= WILDS benchmark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0308" y="1837943"/>
            <a:ext cx="1920240" cy="105156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60" y="1783080"/>
            <a:ext cx="19202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911095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2700" b="1">
                <a:solidFill>
                  <a:srgbClr val="178A7A"/>
                </a:solidFill>
                <a:latin typeface="Avenir Next"/>
              </a:rPr>
              <a:t>0.55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441448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7A848F"/>
                </a:solidFill>
                <a:latin typeface="Avenir Next"/>
              </a:rPr>
              <a:t>worst-group 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3428" y="1837943"/>
            <a:ext cx="1828800" cy="105156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12280" y="1783080"/>
            <a:ext cx="18288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1911095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2700" b="1">
                <a:solidFill>
                  <a:srgbClr val="7A848F"/>
                </a:solidFill>
                <a:latin typeface="Avenir Next"/>
              </a:rPr>
              <a:t>0.45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4414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7A848F"/>
                </a:solidFill>
                <a:latin typeface="Avenir Next"/>
              </a:rPr>
              <a:t>WILDS worst-grp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4068" y="3209544"/>
            <a:ext cx="8138160" cy="265176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154680"/>
            <a:ext cx="813816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520440"/>
            <a:ext cx="7315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In Pearson r — the metric WILDS PovertyMap reports — we MATCH the published benchmark (0.78)…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…and BEAT its worst-group score (0.55 vs 0.45), on the same leave-country-out protocol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Pooled r² 0.61 on unseen countries; the ‘gap to Yeh’ was an r²-framing of the from-scratch penalty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Over 2× a naïve floor — it genuinely reads wealth from space, on countries it has never seen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RESULTS · WHAT DRIVES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What Carries the Signal? Night-lights.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Predicting Village Wealth from Space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11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7" y="1883664"/>
            <a:ext cx="2194560" cy="105156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828800"/>
            <a:ext cx="219456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56816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E0922F"/>
                </a:solidFill>
                <a:latin typeface="Avenir Next"/>
              </a:rPr>
              <a:t>0.58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7A848F"/>
                </a:solidFill>
                <a:latin typeface="Avenir Next"/>
              </a:rPr>
              <a:t>night-lights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15868" y="1883664"/>
            <a:ext cx="2194560" cy="105156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4720" y="1828800"/>
            <a:ext cx="219456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956816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178A7A"/>
                </a:solidFill>
                <a:latin typeface="Avenir Next"/>
              </a:rPr>
              <a:t>0.52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48716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7A848F"/>
                </a:solidFill>
                <a:latin typeface="Avenir Next"/>
              </a:rPr>
              <a:t>all 8 channels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883664"/>
            <a:ext cx="2194560" cy="105156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35040" y="1828800"/>
            <a:ext cx="219456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956816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7A848F"/>
                </a:solidFill>
                <a:latin typeface="Avenir Next"/>
              </a:rPr>
              <a:t>0.46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48716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7A848F"/>
                </a:solidFill>
                <a:latin typeface="Avenir Next"/>
              </a:rPr>
              <a:t>daytime only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4068" y="3300984"/>
            <a:ext cx="8138160" cy="251460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3246120"/>
            <a:ext cx="813816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611880"/>
            <a:ext cx="7315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Night-lights ALONE roughly match the full 8-channel model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Lights = electrification = the single strongest village-wealth signal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Daytime imagery adds little here (it is data-hungry, and we are data-limited)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Foreshadows the limit: if the signal is mostly lights, what happens where there are none?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RESULTS · THE AUDIT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It Serves Cities Better Than Villages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Predicting Village Wealth from Space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12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" y="1746504"/>
            <a:ext cx="8138160" cy="324612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91640"/>
            <a:ext cx="813816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_urban_r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65960"/>
            <a:ext cx="7406640" cy="280251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44068" y="5175503"/>
            <a:ext cx="8138160" cy="91440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5120640"/>
            <a:ext cx="813816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120640"/>
            <a:ext cx="8138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Avenir Next"/>
              </a:rPr>
              <a:t>Remember Nairobi vs Turkana?  </a:t>
            </a:r>
            <a:r>
              <a:rPr sz="1400" b="0">
                <a:solidFill>
                  <a:srgbClr val="2B3440"/>
                </a:solidFill>
                <a:latin typeface="Avenir Next"/>
              </a:rPr>
              <a:t>Equal absolute accuracy (MAE), but the model RANKS rural villages worse (Spearman 0.41 vs 0.54) — in 21 of 23 countries.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RESULTS · THE AUDIT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Confidently Wrong About the Poorest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Predicting Village Wealth from Space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13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" y="1746504"/>
            <a:ext cx="3931920" cy="365760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91640"/>
            <a:ext cx="393192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5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5960"/>
            <a:ext cx="2468880" cy="245057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658868" y="1746504"/>
            <a:ext cx="4023360" cy="365760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17720" y="1691640"/>
            <a:ext cx="402336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6_bias_by_weal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377440"/>
            <a:ext cx="3657600" cy="20164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553212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7A848F"/>
                </a:solidFill>
                <a:latin typeface="Avenir Next"/>
              </a:rPr>
              <a:t>The model compresses toward the average: it predicts the POOREST as richer than they are, with the biggest errors exactly there. Targeting the poorest 20%, it finds only ~23% of them.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THE PUNCHLINE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A Fundamental Limit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Predicting Village Wealth from Space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14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83080"/>
            <a:ext cx="2606040" cy="2286000"/>
          </a:xfrm>
          <a:prstGeom prst="roundRect">
            <a:avLst>
              <a:gd name="adj" fmla="val 5000"/>
            </a:avLst>
          </a:prstGeom>
          <a:solidFill>
            <a:srgbClr val="F6E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011680"/>
            <a:ext cx="292608" cy="54864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2140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C0504D"/>
                </a:solidFill>
                <a:latin typeface="Avenir Next"/>
              </a:rPr>
              <a:t>CONFIDENTLY WRONG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42032"/>
            <a:ext cx="2194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2B3440"/>
                </a:solidFill>
                <a:latin typeface="Avenir Next"/>
              </a:rPr>
              <a:t>The audit: largest, most biased errors fall on the poorest villages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265176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7A848F"/>
                </a:solidFill>
                <a:latin typeface="Avenir Next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64408" y="1783080"/>
            <a:ext cx="2606040" cy="2286000"/>
          </a:xfrm>
          <a:prstGeom prst="roundRect">
            <a:avLst>
              <a:gd name="adj" fmla="val 5000"/>
            </a:avLst>
          </a:prstGeom>
          <a:solidFill>
            <a:srgbClr val="FBE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93008" y="2011680"/>
            <a:ext cx="292608" cy="54864"/>
          </a:xfrm>
          <a:prstGeom prst="rect">
            <a:avLst/>
          </a:prstGeom>
          <a:solidFill>
            <a:srgbClr val="E09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12140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E0922F"/>
                </a:solidFill>
                <a:latin typeface="Avenir Next"/>
              </a:rPr>
              <a:t>UNDETECTABLE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542032"/>
            <a:ext cx="2194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2B3440"/>
                </a:solidFill>
                <a:latin typeface="Avenir Next"/>
              </a:rPr>
              <a:t>No uncertainty method — ensembles, MC-dropout, learned variance — flags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265176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7A848F"/>
                </a:solidFill>
                <a:latin typeface="Avenir Next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25896" y="1783080"/>
            <a:ext cx="2606040" cy="2286000"/>
          </a:xfrm>
          <a:prstGeom prst="roundRect">
            <a:avLst>
              <a:gd name="adj" fmla="val 5000"/>
            </a:avLst>
          </a:prstGeom>
          <a:solidFill>
            <a:srgbClr val="E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54496" y="2011680"/>
            <a:ext cx="292608" cy="54864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4496" y="212140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UNFIXABLE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6" y="2542032"/>
            <a:ext cx="2194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2B3440"/>
                </a:solidFill>
                <a:latin typeface="Avenir Next"/>
              </a:rPr>
              <a:t>Reweighting the loss toward the poor doesn’t repair it — it just destabilises training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4068" y="4398264"/>
            <a:ext cx="8138160" cy="155448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4343400"/>
            <a:ext cx="81381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553712"/>
            <a:ext cx="749807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3A5F"/>
                </a:solidFill>
                <a:latin typeface="Avenir Next"/>
              </a:rPr>
              <a:t>Because the signal isn’t there.  </a:t>
            </a:r>
            <a:r>
              <a:rPr sz="1450" b="0">
                <a:solidFill>
                  <a:srgbClr val="2B3440"/>
                </a:solidFill>
                <a:latin typeface="Avenir Next"/>
              </a:rPr>
              <a:t>Night-lights are uniformly dark below the poverty line — the satellite cannot separate the extreme poor.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Avenir Next"/>
              </a:rPr>
              <a:t>Confirmed FIVE ways: </a:t>
            </a:r>
            <a:r>
              <a:rPr sz="1400" b="0">
                <a:solidFill>
                  <a:srgbClr val="2B3440"/>
                </a:solidFill>
                <a:latin typeface="Avenir Next"/>
              </a:rPr>
              <a:t>confidently-wrong → undetectable → unfixable by reweighting (LDS &amp; Balanced-MSE) → unfixable by 3× data → and it recurs out-of-distribution (next slides).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RESULTS ·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The Full Study Confirms It (3× Data)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Predicting Village Wealth from Space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15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" y="1837943"/>
            <a:ext cx="2606040" cy="105156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783080"/>
            <a:ext cx="26060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11095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2700" b="1">
                <a:solidFill>
                  <a:srgbClr val="178A7A"/>
                </a:solidFill>
                <a:latin typeface="Avenir Next"/>
              </a:rPr>
              <a:t>0.61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41448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7A848F"/>
                </a:solidFill>
                <a:latin typeface="Avenir Next"/>
              </a:rPr>
              <a:t>pooled r² (full)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2988" y="1837943"/>
            <a:ext cx="2606040" cy="105156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91840" y="1783080"/>
            <a:ext cx="26060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911095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2700" b="1">
                <a:solidFill>
                  <a:srgbClr val="E0922F"/>
                </a:solidFill>
                <a:latin typeface="Avenir Next"/>
              </a:rPr>
              <a:t>+0.59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441448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7A848F"/>
                </a:solidFill>
                <a:latin typeface="Avenir Next"/>
              </a:rPr>
              <a:t>poorest-bias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837943"/>
            <a:ext cx="2606040" cy="105156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35040" y="1783080"/>
            <a:ext cx="26060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911095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2700" b="1">
                <a:solidFill>
                  <a:srgbClr val="7A848F"/>
                </a:solidFill>
                <a:latin typeface="Avenir Next"/>
              </a:rPr>
              <a:t>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441448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7A848F"/>
                </a:solidFill>
                <a:latin typeface="Avenir Next"/>
              </a:rPr>
              <a:t>fairness unchanged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4068" y="3163824"/>
            <a:ext cx="3977639" cy="269748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3108960"/>
            <a:ext cx="3977639" cy="2697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401568"/>
            <a:ext cx="34747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3× the data (multi-round): accuracy rises 0.52 → 0.61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But the poorest-bias barely moves (+0.62 → +0.59)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More data helps accuracy — NOT equity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58868" y="3163824"/>
            <a:ext cx="4023360" cy="269748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17720" y="3108960"/>
            <a:ext cx="4023360" cy="2697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data_scal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383280"/>
            <a:ext cx="3566160" cy="226153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RESULTS · OOD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Where Does It Break? Unseen Countries.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Predicting Village Wealth from Space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16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" y="1700784"/>
            <a:ext cx="8138160" cy="365760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45920"/>
            <a:ext cx="813816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od_where_it_brea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1874519"/>
            <a:ext cx="5394960" cy="304065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44068" y="5495544"/>
            <a:ext cx="8138160" cy="77724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5440680"/>
            <a:ext cx="813816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440680"/>
            <a:ext cx="7863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F3A5F"/>
                </a:solidFill>
                <a:latin typeface="Avenir Next"/>
              </a:rPr>
              <a:t>Frozen model, 6 never-seen countries.  </a:t>
            </a:r>
            <a:r>
              <a:rPr sz="1350" b="0">
                <a:solidFill>
                  <a:srgbClr val="2B3440"/>
                </a:solidFill>
                <a:latin typeface="Avenir Next"/>
              </a:rPr>
              <a:t>Ranking TRANSFERS (Gabon 0.81 beats home) — but it BREAKS on rich South Africa (r² −1.7): the same flatten-the-extremes flaw, now on the rich tail. And more data does NOT help OOD.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METHOD · HONESTY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Is Our Evaluation Honest? We Checked.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Predicting Village Wealth from Space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17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" y="1837943"/>
            <a:ext cx="2606040" cy="105156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783080"/>
            <a:ext cx="26060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11095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2700" b="1">
                <a:solidFill>
                  <a:srgbClr val="E0922F"/>
                </a:solidFill>
                <a:latin typeface="Avenir Next"/>
              </a:rPr>
              <a:t>+20%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41448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7A848F"/>
                </a:solidFill>
                <a:latin typeface="Avenir Next"/>
              </a:rPr>
              <a:t>what naïve CV inflates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2988" y="1837943"/>
            <a:ext cx="2606040" cy="105156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91840" y="1783080"/>
            <a:ext cx="26060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911095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2700" b="1">
                <a:solidFill>
                  <a:srgbClr val="178A7A"/>
                </a:solidFill>
                <a:latin typeface="Avenir Next"/>
              </a:rPr>
              <a:t>23/23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441448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7A848F"/>
                </a:solidFill>
                <a:latin typeface="Avenir Next"/>
              </a:rPr>
              <a:t>survive FDR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837943"/>
            <a:ext cx="2606040" cy="105156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35040" y="1783080"/>
            <a:ext cx="26060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911095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2700" b="1">
                <a:solidFill>
                  <a:srgbClr val="178A7A"/>
                </a:solidFill>
                <a:latin typeface="Avenir Next"/>
              </a:rPr>
              <a:t>0.61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441448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7A848F"/>
                </a:solidFill>
                <a:latin typeface="Avenir Next"/>
              </a:rPr>
              <a:t>[0.54–0.66] honest CI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4068" y="3163824"/>
            <a:ext cx="8138160" cy="269748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3108960"/>
            <a:ext cx="8138160" cy="2697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419856"/>
            <a:ext cx="7315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Random-split CV scores 0.73 vs our country-blocked 0.61 — a +20% leakage inflation we REFUSE to claim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No memorisation: train r² 0.70–0.80 (not ~1.0); learning curve early-stopped at best validation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Whole-country bootstrap CIs + Benjamini-Hochberg FDR across all 23 per-country tests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Residuals carry local spatial structure — unmodelled signal, NOT leakage (folds are country-disjoint)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What’s New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Predicting Village Wealth from Space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18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" y="1746504"/>
            <a:ext cx="3977639" cy="393192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91640"/>
            <a:ext cx="3977639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" y="1965960"/>
            <a:ext cx="310896" cy="54864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075688"/>
            <a:ext cx="34655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78A7A"/>
                </a:solidFill>
                <a:latin typeface="Avenir Next"/>
              </a:rPr>
              <a:t>SOLID FOUNDATION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532888"/>
            <a:ext cx="3465575" cy="2926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Faithful modern replication — matches the WILDS benchmark in Pearson 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The most comprehensive fairness + uncertainty audit on this 23-country data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Adds temporal + out-of-distribution external validity (frozen models, 6 new countries)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4588" y="1746504"/>
            <a:ext cx="3977639" cy="393192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63440" y="1691640"/>
            <a:ext cx="3977639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9472" y="1965960"/>
            <a:ext cx="310896" cy="54864"/>
          </a:xfrm>
          <a:prstGeom prst="rect">
            <a:avLst/>
          </a:prstGeom>
          <a:solidFill>
            <a:srgbClr val="E09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9472" y="2075688"/>
            <a:ext cx="34655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0922F"/>
                </a:solidFill>
                <a:latin typeface="Avenir Next"/>
              </a:rPr>
              <a:t>MOST NOVEL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2532888"/>
            <a:ext cx="3465575" cy="2926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Equity-framed uncertainty: even calibrated UQ cannot flag the failure on the poorest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A fundamental-limit thesis confirmed FIVE independent ways — apparently unstated in the literature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7A848F"/>
                </a:solidFill>
                <a:latin typeface="Avenir Next"/>
              </a:rPr>
              <a:t>Honest positioning: this is a rigorous AUDIT, not a new architecture — and we don’t claim a new state of the art.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78A7A"/>
                </a:solidFill>
                <a:latin typeface="Avenir Next"/>
              </a:rPr>
              <a:t>THE ONE THING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2300" b="0">
                <a:solidFill>
                  <a:srgbClr val="FFFFFF"/>
                </a:solidFill>
                <a:latin typeface="Avenir Next"/>
              </a:rPr>
              <a:t>Satellite poverty maps are great for </a:t>
            </a:r>
            <a:r>
              <a:rPr sz="2300" b="1">
                <a:solidFill>
                  <a:srgbClr val="178A7A"/>
                </a:solidFill>
                <a:latin typeface="Avenir Next"/>
              </a:rPr>
              <a:t>ranking regions</a:t>
            </a:r>
            <a:r>
              <a:rPr sz="2300" b="0">
                <a:solidFill>
                  <a:srgbClr val="FFFFFF"/>
                </a:solidFill>
                <a:latin typeface="Avenir Next"/>
              </a:rPr>
              <a:t> — not for last-mile targeting of the extreme poor — and standard uncertainty tools can’t warn you when they’re wrong about the neediest.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5074920"/>
            <a:ext cx="2377440" cy="4572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C9D6E3"/>
                </a:solidFill>
                <a:latin typeface="Avenir Next"/>
              </a:rPr>
              <a:t>Thank you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